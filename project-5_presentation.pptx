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chivo Black" charset="1" panose="020B0A03020202020B04"/>
      <p:regular r:id="rId17"/>
    </p:embeddedFont>
    <p:embeddedFont>
      <p:font typeface="Open Sans Bold" charset="1" panose="00000000000000000000"/>
      <p:regular r:id="rId18"/>
    </p:embeddedFont>
    <p:embeddedFont>
      <p:font typeface="Cinzel Bold" charset="1" panose="00000800000000000000"/>
      <p:regular r:id="rId19"/>
    </p:embeddedFon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AutoShape 2" id="2"/>
          <p:cNvSpPr/>
          <p:nvPr/>
        </p:nvSpPr>
        <p:spPr>
          <a:xfrm>
            <a:off x="826719" y="4544743"/>
            <a:ext cx="7307429" cy="0"/>
          </a:xfrm>
          <a:prstGeom prst="line">
            <a:avLst/>
          </a:prstGeom>
          <a:ln cap="rnd" w="28575">
            <a:solidFill>
              <a:srgbClr val="60A5FA"/>
            </a:solidFill>
            <a:prstDash val="solid"/>
            <a:headEnd type="none" len="sm" w="sm"/>
            <a:tailEnd type="none" len="sm" w="sm"/>
          </a:ln>
        </p:spPr>
      </p:sp>
      <p:sp>
        <p:nvSpPr>
          <p:cNvPr name="AutoShape 3" id="3"/>
          <p:cNvSpPr/>
          <p:nvPr/>
        </p:nvSpPr>
        <p:spPr>
          <a:xfrm>
            <a:off x="1028700" y="8744888"/>
            <a:ext cx="7307429" cy="0"/>
          </a:xfrm>
          <a:prstGeom prst="line">
            <a:avLst/>
          </a:prstGeom>
          <a:ln cap="rnd" w="95250">
            <a:solidFill>
              <a:srgbClr val="60A5FA"/>
            </a:solidFill>
            <a:prstDash val="solid"/>
            <a:headEnd type="none" len="sm" w="sm"/>
            <a:tailEnd type="none" len="sm" w="sm"/>
          </a:ln>
        </p:spPr>
      </p:sp>
      <p:sp>
        <p:nvSpPr>
          <p:cNvPr name="Freeform 4" id="4"/>
          <p:cNvSpPr/>
          <p:nvPr/>
        </p:nvSpPr>
        <p:spPr>
          <a:xfrm flipH="false" flipV="false" rot="0">
            <a:off x="10444067" y="2633573"/>
            <a:ext cx="797872" cy="797872"/>
          </a:xfrm>
          <a:custGeom>
            <a:avLst/>
            <a:gdLst/>
            <a:ahLst/>
            <a:cxnLst/>
            <a:rect r="r" b="b" t="t" l="l"/>
            <a:pathLst>
              <a:path h="797872" w="797872">
                <a:moveTo>
                  <a:pt x="0" y="0"/>
                </a:moveTo>
                <a:lnTo>
                  <a:pt x="797872" y="0"/>
                </a:lnTo>
                <a:lnTo>
                  <a:pt x="797872" y="797871"/>
                </a:lnTo>
                <a:lnTo>
                  <a:pt x="0" y="797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082663" y="2246215"/>
            <a:ext cx="6444398" cy="8825834"/>
            <a:chOff x="0" y="0"/>
            <a:chExt cx="8592531" cy="11767779"/>
          </a:xfrm>
        </p:grpSpPr>
        <p:grpSp>
          <p:nvGrpSpPr>
            <p:cNvPr name="Group 6" id="6"/>
            <p:cNvGrpSpPr/>
            <p:nvPr/>
          </p:nvGrpSpPr>
          <p:grpSpPr>
            <a:xfrm rot="0">
              <a:off x="0" y="2538938"/>
              <a:ext cx="2027572" cy="7346526"/>
              <a:chOff x="0" y="0"/>
              <a:chExt cx="400508" cy="1451166"/>
            </a:xfrm>
          </p:grpSpPr>
          <p:sp>
            <p:nvSpPr>
              <p:cNvPr name="Freeform 7" id="7"/>
              <p:cNvSpPr/>
              <p:nvPr/>
            </p:nvSpPr>
            <p:spPr>
              <a:xfrm flipH="false" flipV="false" rot="0">
                <a:off x="0" y="0"/>
                <a:ext cx="400508" cy="1451166"/>
              </a:xfrm>
              <a:custGeom>
                <a:avLst/>
                <a:gdLst/>
                <a:ahLst/>
                <a:cxnLst/>
                <a:rect r="r" b="b" t="t" l="l"/>
                <a:pathLst>
                  <a:path h="1451166" w="400508">
                    <a:moveTo>
                      <a:pt x="200254" y="0"/>
                    </a:moveTo>
                    <a:lnTo>
                      <a:pt x="200254" y="0"/>
                    </a:lnTo>
                    <a:cubicBezTo>
                      <a:pt x="310851" y="0"/>
                      <a:pt x="400508" y="89657"/>
                      <a:pt x="400508" y="200254"/>
                    </a:cubicBezTo>
                    <a:lnTo>
                      <a:pt x="400508" y="1250912"/>
                    </a:lnTo>
                    <a:cubicBezTo>
                      <a:pt x="400508" y="1361509"/>
                      <a:pt x="310851" y="1451166"/>
                      <a:pt x="200254" y="1451166"/>
                    </a:cubicBezTo>
                    <a:lnTo>
                      <a:pt x="200254" y="1451166"/>
                    </a:lnTo>
                    <a:cubicBezTo>
                      <a:pt x="89657" y="1451166"/>
                      <a:pt x="0" y="1361509"/>
                      <a:pt x="0" y="1250912"/>
                    </a:cubicBezTo>
                    <a:lnTo>
                      <a:pt x="0" y="200254"/>
                    </a:lnTo>
                    <a:cubicBezTo>
                      <a:pt x="0" y="89657"/>
                      <a:pt x="89657" y="0"/>
                      <a:pt x="200254" y="0"/>
                    </a:cubicBezTo>
                    <a:close/>
                  </a:path>
                </a:pathLst>
              </a:custGeom>
              <a:solidFill>
                <a:srgbClr val="60A5FA">
                  <a:alpha val="66667"/>
                </a:srgbClr>
              </a:solidFill>
            </p:spPr>
          </p:sp>
          <p:sp>
            <p:nvSpPr>
              <p:cNvPr name="TextBox 8" id="8"/>
              <p:cNvSpPr txBox="true"/>
              <p:nvPr/>
            </p:nvSpPr>
            <p:spPr>
              <a:xfrm>
                <a:off x="0" y="-38100"/>
                <a:ext cx="400508" cy="148926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282480" y="4421253"/>
              <a:ext cx="2027572" cy="7346526"/>
              <a:chOff x="0" y="0"/>
              <a:chExt cx="400508" cy="1451166"/>
            </a:xfrm>
          </p:grpSpPr>
          <p:sp>
            <p:nvSpPr>
              <p:cNvPr name="Freeform 10" id="10"/>
              <p:cNvSpPr/>
              <p:nvPr/>
            </p:nvSpPr>
            <p:spPr>
              <a:xfrm flipH="false" flipV="false" rot="0">
                <a:off x="0" y="0"/>
                <a:ext cx="400508" cy="1451166"/>
              </a:xfrm>
              <a:custGeom>
                <a:avLst/>
                <a:gdLst/>
                <a:ahLst/>
                <a:cxnLst/>
                <a:rect r="r" b="b" t="t" l="l"/>
                <a:pathLst>
                  <a:path h="1451166" w="400508">
                    <a:moveTo>
                      <a:pt x="200254" y="0"/>
                    </a:moveTo>
                    <a:lnTo>
                      <a:pt x="200254" y="0"/>
                    </a:lnTo>
                    <a:cubicBezTo>
                      <a:pt x="310851" y="0"/>
                      <a:pt x="400508" y="89657"/>
                      <a:pt x="400508" y="200254"/>
                    </a:cubicBezTo>
                    <a:lnTo>
                      <a:pt x="400508" y="1250912"/>
                    </a:lnTo>
                    <a:cubicBezTo>
                      <a:pt x="400508" y="1361509"/>
                      <a:pt x="310851" y="1451166"/>
                      <a:pt x="200254" y="1451166"/>
                    </a:cubicBezTo>
                    <a:lnTo>
                      <a:pt x="200254" y="1451166"/>
                    </a:lnTo>
                    <a:cubicBezTo>
                      <a:pt x="89657" y="1451166"/>
                      <a:pt x="0" y="1361509"/>
                      <a:pt x="0" y="1250912"/>
                    </a:cubicBezTo>
                    <a:lnTo>
                      <a:pt x="0" y="200254"/>
                    </a:lnTo>
                    <a:cubicBezTo>
                      <a:pt x="0" y="89657"/>
                      <a:pt x="89657" y="0"/>
                      <a:pt x="200254" y="0"/>
                    </a:cubicBezTo>
                    <a:close/>
                  </a:path>
                </a:pathLst>
              </a:custGeom>
              <a:solidFill>
                <a:srgbClr val="14B8A6">
                  <a:alpha val="66667"/>
                </a:srgbClr>
              </a:solidFill>
            </p:spPr>
          </p:sp>
          <p:sp>
            <p:nvSpPr>
              <p:cNvPr name="TextBox 11" id="11"/>
              <p:cNvSpPr txBox="true"/>
              <p:nvPr/>
            </p:nvSpPr>
            <p:spPr>
              <a:xfrm>
                <a:off x="0" y="-38100"/>
                <a:ext cx="400508" cy="1489266"/>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6564960" y="2573544"/>
              <a:ext cx="2027572" cy="7346526"/>
              <a:chOff x="0" y="0"/>
              <a:chExt cx="400508" cy="1451166"/>
            </a:xfrm>
          </p:grpSpPr>
          <p:sp>
            <p:nvSpPr>
              <p:cNvPr name="Freeform 13" id="13"/>
              <p:cNvSpPr/>
              <p:nvPr/>
            </p:nvSpPr>
            <p:spPr>
              <a:xfrm flipH="false" flipV="false" rot="0">
                <a:off x="0" y="0"/>
                <a:ext cx="400508" cy="1451166"/>
              </a:xfrm>
              <a:custGeom>
                <a:avLst/>
                <a:gdLst/>
                <a:ahLst/>
                <a:cxnLst/>
                <a:rect r="r" b="b" t="t" l="l"/>
                <a:pathLst>
                  <a:path h="1451166" w="400508">
                    <a:moveTo>
                      <a:pt x="200254" y="0"/>
                    </a:moveTo>
                    <a:lnTo>
                      <a:pt x="200254" y="0"/>
                    </a:lnTo>
                    <a:cubicBezTo>
                      <a:pt x="310851" y="0"/>
                      <a:pt x="400508" y="89657"/>
                      <a:pt x="400508" y="200254"/>
                    </a:cubicBezTo>
                    <a:lnTo>
                      <a:pt x="400508" y="1250912"/>
                    </a:lnTo>
                    <a:cubicBezTo>
                      <a:pt x="400508" y="1361509"/>
                      <a:pt x="310851" y="1451166"/>
                      <a:pt x="200254" y="1451166"/>
                    </a:cubicBezTo>
                    <a:lnTo>
                      <a:pt x="200254" y="1451166"/>
                    </a:lnTo>
                    <a:cubicBezTo>
                      <a:pt x="89657" y="1451166"/>
                      <a:pt x="0" y="1361509"/>
                      <a:pt x="0" y="1250912"/>
                    </a:cubicBezTo>
                    <a:lnTo>
                      <a:pt x="0" y="200254"/>
                    </a:lnTo>
                    <a:cubicBezTo>
                      <a:pt x="0" y="89657"/>
                      <a:pt x="89657" y="0"/>
                      <a:pt x="200254" y="0"/>
                    </a:cubicBezTo>
                    <a:close/>
                  </a:path>
                </a:pathLst>
              </a:custGeom>
              <a:solidFill>
                <a:srgbClr val="2563EB">
                  <a:alpha val="66667"/>
                </a:srgbClr>
              </a:solidFill>
            </p:spPr>
          </p:sp>
          <p:sp>
            <p:nvSpPr>
              <p:cNvPr name="TextBox 14" id="14"/>
              <p:cNvSpPr txBox="true"/>
              <p:nvPr/>
            </p:nvSpPr>
            <p:spPr>
              <a:xfrm>
                <a:off x="0" y="-38100"/>
                <a:ext cx="400508" cy="1489266"/>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0" y="0"/>
              <a:ext cx="2027572" cy="202757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A5FA">
                  <a:alpha val="66667"/>
                </a:srgbClr>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3282480" y="1752756"/>
              <a:ext cx="2027572" cy="202757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B8A6">
                  <a:alpha val="66667"/>
                </a:srgbClr>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564960" y="34606"/>
              <a:ext cx="2027572" cy="202757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3EB">
                  <a:alpha val="66667"/>
                </a:srgbClr>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3764351" y="2234627"/>
              <a:ext cx="1063829" cy="1063829"/>
            </a:xfrm>
            <a:custGeom>
              <a:avLst/>
              <a:gdLst/>
              <a:ahLst/>
              <a:cxnLst/>
              <a:rect r="r" b="b" t="t" l="l"/>
              <a:pathLst>
                <a:path h="1063829" w="1063829">
                  <a:moveTo>
                    <a:pt x="0" y="0"/>
                  </a:moveTo>
                  <a:lnTo>
                    <a:pt x="1063829" y="0"/>
                  </a:lnTo>
                  <a:lnTo>
                    <a:pt x="1063829" y="1063829"/>
                  </a:lnTo>
                  <a:lnTo>
                    <a:pt x="0" y="1063829"/>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grpSp>
      <p:sp>
        <p:nvSpPr>
          <p:cNvPr name="Freeform 25" id="25"/>
          <p:cNvSpPr/>
          <p:nvPr/>
        </p:nvSpPr>
        <p:spPr>
          <a:xfrm flipH="false" flipV="false" rot="0">
            <a:off x="15343958" y="2607618"/>
            <a:ext cx="845529" cy="797872"/>
          </a:xfrm>
          <a:custGeom>
            <a:avLst/>
            <a:gdLst/>
            <a:ahLst/>
            <a:cxnLst/>
            <a:rect r="r" b="b" t="t" l="l"/>
            <a:pathLst>
              <a:path h="797872" w="845529">
                <a:moveTo>
                  <a:pt x="0" y="0"/>
                </a:moveTo>
                <a:lnTo>
                  <a:pt x="845529" y="0"/>
                </a:lnTo>
                <a:lnTo>
                  <a:pt x="845529" y="797872"/>
                </a:lnTo>
                <a:lnTo>
                  <a:pt x="0" y="797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760044" y="557072"/>
            <a:ext cx="18264268" cy="2990533"/>
          </a:xfrm>
          <a:prstGeom prst="rect">
            <a:avLst/>
          </a:prstGeom>
        </p:spPr>
        <p:txBody>
          <a:bodyPr anchor="t" rtlCol="false" tIns="0" lIns="0" bIns="0" rIns="0">
            <a:spAutoFit/>
          </a:bodyPr>
          <a:lstStyle/>
          <a:p>
            <a:pPr algn="l">
              <a:lnSpc>
                <a:spcPts val="8164"/>
              </a:lnSpc>
            </a:pPr>
            <a:r>
              <a:rPr lang="en-US" sz="5831">
                <a:solidFill>
                  <a:srgbClr val="373636"/>
                </a:solidFill>
                <a:latin typeface="Archivo Black"/>
                <a:ea typeface="Archivo Black"/>
                <a:cs typeface="Archivo Black"/>
                <a:sym typeface="Archivo Black"/>
              </a:rPr>
              <a:t>User An</a:t>
            </a:r>
            <a:r>
              <a:rPr lang="en-US" sz="5831">
                <a:solidFill>
                  <a:srgbClr val="373636"/>
                </a:solidFill>
                <a:latin typeface="Archivo Black"/>
                <a:ea typeface="Archivo Black"/>
                <a:cs typeface="Archivo Black"/>
                <a:sym typeface="Archivo Black"/>
              </a:rPr>
              <a:t>alytics in the Telecommunication</a:t>
            </a:r>
          </a:p>
          <a:p>
            <a:pPr algn="l">
              <a:lnSpc>
                <a:spcPts val="8164"/>
              </a:lnSpc>
            </a:pPr>
            <a:r>
              <a:rPr lang="en-US" sz="5831">
                <a:solidFill>
                  <a:srgbClr val="373636"/>
                </a:solidFill>
                <a:latin typeface="Archivo Black"/>
                <a:ea typeface="Archivo Black"/>
                <a:cs typeface="Archivo Black"/>
                <a:sym typeface="Archivo Black"/>
              </a:rPr>
              <a:t>Industry </a:t>
            </a:r>
          </a:p>
          <a:p>
            <a:pPr algn="l">
              <a:lnSpc>
                <a:spcPts val="7620"/>
              </a:lnSpc>
            </a:pPr>
          </a:p>
        </p:txBody>
      </p:sp>
      <p:grpSp>
        <p:nvGrpSpPr>
          <p:cNvPr name="Group 27" id="27"/>
          <p:cNvGrpSpPr/>
          <p:nvPr/>
        </p:nvGrpSpPr>
        <p:grpSpPr>
          <a:xfrm rot="0">
            <a:off x="1051409" y="7762487"/>
            <a:ext cx="5463803" cy="388406"/>
            <a:chOff x="0" y="0"/>
            <a:chExt cx="7285071" cy="517875"/>
          </a:xfrm>
        </p:grpSpPr>
        <p:sp>
          <p:nvSpPr>
            <p:cNvPr name="TextBox 28" id="28"/>
            <p:cNvSpPr txBox="true"/>
            <p:nvPr/>
          </p:nvSpPr>
          <p:spPr>
            <a:xfrm rot="0">
              <a:off x="0" y="-57150"/>
              <a:ext cx="3227458" cy="575025"/>
            </a:xfrm>
            <a:prstGeom prst="rect">
              <a:avLst/>
            </a:prstGeom>
          </p:spPr>
          <p:txBody>
            <a:bodyPr anchor="t" rtlCol="false" tIns="0" lIns="0" bIns="0" rIns="0">
              <a:spAutoFit/>
            </a:bodyPr>
            <a:lstStyle/>
            <a:p>
              <a:pPr algn="l">
                <a:lnSpc>
                  <a:spcPts val="3628"/>
                </a:lnSpc>
                <a:spcBef>
                  <a:spcPct val="0"/>
                </a:spcBef>
              </a:pPr>
              <a:r>
                <a:rPr lang="en-US" b="true" sz="2591">
                  <a:solidFill>
                    <a:srgbClr val="1E293B"/>
                  </a:solidFill>
                  <a:latin typeface="Open Sans Bold"/>
                  <a:ea typeface="Open Sans Bold"/>
                  <a:cs typeface="Open Sans Bold"/>
                  <a:sym typeface="Open Sans Bold"/>
                </a:rPr>
                <a:t>Presented by:</a:t>
              </a:r>
            </a:p>
          </p:txBody>
        </p:sp>
        <p:sp>
          <p:nvSpPr>
            <p:cNvPr name="TextBox 29" id="29"/>
            <p:cNvSpPr txBox="true"/>
            <p:nvPr/>
          </p:nvSpPr>
          <p:spPr>
            <a:xfrm rot="0">
              <a:off x="3227458" y="-57150"/>
              <a:ext cx="4057613" cy="575025"/>
            </a:xfrm>
            <a:prstGeom prst="rect">
              <a:avLst/>
            </a:prstGeom>
          </p:spPr>
          <p:txBody>
            <a:bodyPr anchor="t" rtlCol="false" tIns="0" lIns="0" bIns="0" rIns="0">
              <a:spAutoFit/>
            </a:bodyPr>
            <a:lstStyle/>
            <a:p>
              <a:pPr algn="l">
                <a:lnSpc>
                  <a:spcPts val="3628"/>
                </a:lnSpc>
              </a:pPr>
              <a:r>
                <a:rPr lang="en-US" b="true" sz="2591">
                  <a:solidFill>
                    <a:srgbClr val="1E293B"/>
                  </a:solidFill>
                  <a:latin typeface="Open Sans Bold"/>
                  <a:ea typeface="Open Sans Bold"/>
                  <a:cs typeface="Open Sans Bold"/>
                  <a:sym typeface="Open Sans Bold"/>
                </a:rPr>
                <a:t>ROHIT RATHORE </a:t>
              </a:r>
            </a:p>
          </p:txBody>
        </p:sp>
      </p:grpSp>
      <p:sp>
        <p:nvSpPr>
          <p:cNvPr name="Freeform 30" id="30"/>
          <p:cNvSpPr/>
          <p:nvPr/>
        </p:nvSpPr>
        <p:spPr>
          <a:xfrm flipH="false" flipV="false" rot="0">
            <a:off x="760044" y="5081460"/>
            <a:ext cx="4703481" cy="1959784"/>
          </a:xfrm>
          <a:custGeom>
            <a:avLst/>
            <a:gdLst/>
            <a:ahLst/>
            <a:cxnLst/>
            <a:rect r="r" b="b" t="t" l="l"/>
            <a:pathLst>
              <a:path h="1959784" w="4703481">
                <a:moveTo>
                  <a:pt x="0" y="0"/>
                </a:moveTo>
                <a:lnTo>
                  <a:pt x="4703481" y="0"/>
                </a:lnTo>
                <a:lnTo>
                  <a:pt x="4703481" y="1959784"/>
                </a:lnTo>
                <a:lnTo>
                  <a:pt x="0" y="1959784"/>
                </a:lnTo>
                <a:lnTo>
                  <a:pt x="0" y="0"/>
                </a:lnTo>
                <a:close/>
              </a:path>
            </a:pathLst>
          </a:custGeom>
          <a:blipFill>
            <a:blip r:embed="rId8"/>
            <a:stretch>
              <a:fillRect l="0" t="0" r="0" b="0"/>
            </a:stretch>
          </a:blipFill>
        </p:spPr>
      </p:sp>
      <p:sp>
        <p:nvSpPr>
          <p:cNvPr name="AutoShape 31" id="31"/>
          <p:cNvSpPr/>
          <p:nvPr/>
        </p:nvSpPr>
        <p:spPr>
          <a:xfrm>
            <a:off x="12113008" y="471347"/>
            <a:ext cx="7307429" cy="0"/>
          </a:xfrm>
          <a:prstGeom prst="line">
            <a:avLst/>
          </a:prstGeom>
          <a:ln cap="rnd" w="95250">
            <a:solidFill>
              <a:srgbClr val="60A5FA"/>
            </a:solidFill>
            <a:prstDash val="solid"/>
            <a:headEnd type="none" len="sm" w="sm"/>
            <a:tailEnd type="none" len="sm" w="sm"/>
          </a:ln>
        </p:spPr>
      </p:sp>
      <p:sp>
        <p:nvSpPr>
          <p:cNvPr name="TextBox 32" id="32"/>
          <p:cNvSpPr txBox="true"/>
          <p:nvPr/>
        </p:nvSpPr>
        <p:spPr>
          <a:xfrm rot="0">
            <a:off x="760044" y="3765815"/>
            <a:ext cx="5100825" cy="555306"/>
          </a:xfrm>
          <a:prstGeom prst="rect">
            <a:avLst/>
          </a:prstGeom>
        </p:spPr>
        <p:txBody>
          <a:bodyPr anchor="t" rtlCol="false" tIns="0" lIns="0" bIns="0" rIns="0">
            <a:spAutoFit/>
          </a:bodyPr>
          <a:lstStyle/>
          <a:p>
            <a:pPr algn="ctr">
              <a:lnSpc>
                <a:spcPts val="4647"/>
              </a:lnSpc>
              <a:spcBef>
                <a:spcPct val="0"/>
              </a:spcBef>
            </a:pPr>
            <a:r>
              <a:rPr lang="en-US" b="true" sz="3319">
                <a:solidFill>
                  <a:srgbClr val="000000"/>
                </a:solidFill>
                <a:latin typeface="Cinzel Bold"/>
                <a:ea typeface="Cinzel Bold"/>
                <a:cs typeface="Cinzel Bold"/>
                <a:sym typeface="Cinzel Bold"/>
              </a:rPr>
              <a:t> Project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90270"/>
            <a:ext cx="18519663" cy="9106459"/>
          </a:xfrm>
          <a:custGeom>
            <a:avLst/>
            <a:gdLst/>
            <a:ahLst/>
            <a:cxnLst/>
            <a:rect r="r" b="b" t="t" l="l"/>
            <a:pathLst>
              <a:path h="9106459" w="18519663">
                <a:moveTo>
                  <a:pt x="0" y="0"/>
                </a:moveTo>
                <a:lnTo>
                  <a:pt x="18519663" y="0"/>
                </a:lnTo>
                <a:lnTo>
                  <a:pt x="18519663" y="9106460"/>
                </a:lnTo>
                <a:lnTo>
                  <a:pt x="0" y="910646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44164" y="1594616"/>
            <a:ext cx="7307429" cy="0"/>
          </a:xfrm>
          <a:prstGeom prst="line">
            <a:avLst/>
          </a:prstGeom>
          <a:ln cap="rnd" w="95250">
            <a:solidFill>
              <a:srgbClr val="2563EB"/>
            </a:solidFill>
            <a:prstDash val="solid"/>
            <a:headEnd type="none" len="sm" w="sm"/>
            <a:tailEnd type="none" len="sm" w="sm"/>
          </a:ln>
        </p:spPr>
      </p:sp>
      <p:sp>
        <p:nvSpPr>
          <p:cNvPr name="TextBox 3" id="3"/>
          <p:cNvSpPr txBox="true"/>
          <p:nvPr/>
        </p:nvSpPr>
        <p:spPr>
          <a:xfrm rot="0">
            <a:off x="-288408" y="547052"/>
            <a:ext cx="10872866" cy="795352"/>
          </a:xfrm>
          <a:prstGeom prst="rect">
            <a:avLst/>
          </a:prstGeom>
        </p:spPr>
        <p:txBody>
          <a:bodyPr anchor="t" rtlCol="false" tIns="0" lIns="0" bIns="0" rIns="0">
            <a:spAutoFit/>
          </a:bodyPr>
          <a:lstStyle/>
          <a:p>
            <a:pPr algn="ctr">
              <a:lnSpc>
                <a:spcPts val="6561"/>
              </a:lnSpc>
            </a:pPr>
            <a:r>
              <a:rPr lang="en-US" sz="4686" b="true">
                <a:solidFill>
                  <a:srgbClr val="000000"/>
                </a:solidFill>
                <a:latin typeface="Cinzel Bold"/>
                <a:ea typeface="Cinzel Bold"/>
                <a:cs typeface="Cinzel Bold"/>
                <a:sym typeface="Cinzel Bold"/>
              </a:rPr>
              <a:t>Data</a:t>
            </a:r>
            <a:r>
              <a:rPr lang="en-US" b="true" sz="4686">
                <a:solidFill>
                  <a:srgbClr val="000000"/>
                </a:solidFill>
                <a:latin typeface="Cinzel Bold"/>
                <a:ea typeface="Cinzel Bold"/>
                <a:cs typeface="Cinzel Bold"/>
                <a:sym typeface="Cinzel Bold"/>
              </a:rPr>
              <a:t> Preparation &amp; Cleaning</a:t>
            </a:r>
          </a:p>
        </p:txBody>
      </p:sp>
      <p:sp>
        <p:nvSpPr>
          <p:cNvPr name="TextBox 4" id="4"/>
          <p:cNvSpPr txBox="true"/>
          <p:nvPr/>
        </p:nvSpPr>
        <p:spPr>
          <a:xfrm rot="0">
            <a:off x="644164" y="2005193"/>
            <a:ext cx="11275435" cy="7457486"/>
          </a:xfrm>
          <a:prstGeom prst="rect">
            <a:avLst/>
          </a:prstGeom>
        </p:spPr>
        <p:txBody>
          <a:bodyPr anchor="t" rtlCol="false" tIns="0" lIns="0" bIns="0" rIns="0">
            <a:spAutoFit/>
          </a:bodyPr>
          <a:lstStyle/>
          <a:p>
            <a:pPr algn="l">
              <a:lnSpc>
                <a:spcPts val="3707"/>
              </a:lnSpc>
            </a:pPr>
            <a:r>
              <a:rPr lang="en-US" sz="2648" b="true">
                <a:solidFill>
                  <a:srgbClr val="000000"/>
                </a:solidFill>
                <a:latin typeface="Canva Sans Bold"/>
                <a:ea typeface="Canva Sans Bold"/>
                <a:cs typeface="Canva Sans Bold"/>
                <a:sym typeface="Canva Sans Bold"/>
              </a:rPr>
              <a:t>1. Missing Value I</a:t>
            </a:r>
            <a:r>
              <a:rPr lang="en-US" b="true" sz="2648">
                <a:solidFill>
                  <a:srgbClr val="000000"/>
                </a:solidFill>
                <a:latin typeface="Canva Sans Bold"/>
                <a:ea typeface="Canva Sans Bold"/>
                <a:cs typeface="Canva Sans Bold"/>
                <a:sym typeface="Canva Sans Bold"/>
              </a:rPr>
              <a:t>dentification</a:t>
            </a:r>
          </a:p>
          <a:p>
            <a:pPr algn="l">
              <a:lnSpc>
                <a:spcPts val="3707"/>
              </a:lnSpc>
            </a:pPr>
            <a:r>
              <a:rPr lang="en-US" sz="2648">
                <a:solidFill>
                  <a:srgbClr val="000000"/>
                </a:solidFill>
                <a:latin typeface="Canva Sans"/>
                <a:ea typeface="Canva Sans"/>
                <a:cs typeface="Canva Sans"/>
                <a:sym typeface="Canva Sans"/>
              </a:rPr>
              <a:t>Missing values were identified across the dataset.</a:t>
            </a:r>
          </a:p>
          <a:p>
            <a:pPr algn="l">
              <a:lnSpc>
                <a:spcPts val="3707"/>
              </a:lnSpc>
            </a:pPr>
            <a:r>
              <a:rPr lang="en-US" sz="2648">
                <a:solidFill>
                  <a:srgbClr val="000000"/>
                </a:solidFill>
                <a:latin typeface="Canva Sans"/>
                <a:ea typeface="Canva Sans"/>
                <a:cs typeface="Canva Sans"/>
                <a:sym typeface="Canva Sans"/>
              </a:rPr>
              <a:t>The missing data was then handled using suitable methods.</a:t>
            </a:r>
          </a:p>
          <a:p>
            <a:pPr algn="l">
              <a:lnSpc>
                <a:spcPts val="3707"/>
              </a:lnSpc>
            </a:pPr>
            <a:r>
              <a:rPr lang="en-US" b="true" sz="2648">
                <a:solidFill>
                  <a:srgbClr val="000000"/>
                </a:solidFill>
                <a:latin typeface="Canva Sans Bold"/>
                <a:ea typeface="Canva Sans Bold"/>
                <a:cs typeface="Canva Sans Bold"/>
                <a:sym typeface="Canva Sans Bold"/>
              </a:rPr>
              <a:t>2. Outlier Identification</a:t>
            </a:r>
          </a:p>
          <a:p>
            <a:pPr algn="l">
              <a:lnSpc>
                <a:spcPts val="3707"/>
              </a:lnSpc>
            </a:pPr>
            <a:r>
              <a:rPr lang="en-US" sz="2648">
                <a:solidFill>
                  <a:srgbClr val="000000"/>
                </a:solidFill>
                <a:latin typeface="Canva Sans"/>
                <a:ea typeface="Canva Sans"/>
                <a:cs typeface="Canva Sans"/>
                <a:sym typeface="Canva Sans"/>
              </a:rPr>
              <a:t>Unusual values were identified in numerical columns.</a:t>
            </a:r>
          </a:p>
          <a:p>
            <a:pPr algn="l">
              <a:lnSpc>
                <a:spcPts val="3707"/>
              </a:lnSpc>
            </a:pPr>
            <a:r>
              <a:rPr lang="en-US" sz="2648">
                <a:solidFill>
                  <a:srgbClr val="000000"/>
                </a:solidFill>
                <a:latin typeface="Canva Sans"/>
                <a:ea typeface="Canva Sans"/>
                <a:cs typeface="Canva Sans"/>
                <a:sym typeface="Canva Sans"/>
              </a:rPr>
              <a:t>The IQR method was used to detect and treat these outliers.</a:t>
            </a:r>
          </a:p>
          <a:p>
            <a:pPr algn="l">
              <a:lnSpc>
                <a:spcPts val="3707"/>
              </a:lnSpc>
            </a:pPr>
            <a:r>
              <a:rPr lang="en-US" b="true" sz="2648">
                <a:solidFill>
                  <a:srgbClr val="000000"/>
                </a:solidFill>
                <a:latin typeface="Canva Sans Bold"/>
                <a:ea typeface="Canva Sans Bold"/>
                <a:cs typeface="Canva Sans Bold"/>
                <a:sym typeface="Canva Sans Bold"/>
              </a:rPr>
              <a:t>3. Data Aggregation</a:t>
            </a:r>
          </a:p>
          <a:p>
            <a:pPr algn="l">
              <a:lnSpc>
                <a:spcPts val="3707"/>
              </a:lnSpc>
            </a:pPr>
            <a:r>
              <a:rPr lang="en-US" sz="2648">
                <a:solidFill>
                  <a:srgbClr val="000000"/>
                </a:solidFill>
                <a:latin typeface="Canva Sans"/>
                <a:ea typeface="Canva Sans"/>
                <a:cs typeface="Canva Sans"/>
                <a:sym typeface="Canva Sans"/>
              </a:rPr>
              <a:t>Session-level data was converted into customer-level data.</a:t>
            </a:r>
          </a:p>
          <a:p>
            <a:pPr algn="l">
              <a:lnSpc>
                <a:spcPts val="3707"/>
              </a:lnSpc>
            </a:pPr>
            <a:r>
              <a:rPr lang="en-US" sz="2648">
                <a:solidFill>
                  <a:srgbClr val="000000"/>
                </a:solidFill>
                <a:latin typeface="Canva Sans"/>
                <a:ea typeface="Canva Sans"/>
                <a:cs typeface="Canva Sans"/>
                <a:sym typeface="Canva Sans"/>
              </a:rPr>
              <a:t>This helped us understand individual customer behaviour.</a:t>
            </a:r>
          </a:p>
          <a:p>
            <a:pPr algn="l">
              <a:lnSpc>
                <a:spcPts val="3707"/>
              </a:lnSpc>
            </a:pPr>
            <a:r>
              <a:rPr lang="en-US" b="true" sz="2648">
                <a:solidFill>
                  <a:srgbClr val="000000"/>
                </a:solidFill>
                <a:latin typeface="Canva Sans Bold"/>
                <a:ea typeface="Canva Sans Bold"/>
                <a:cs typeface="Canva Sans Bold"/>
                <a:sym typeface="Canva Sans Bold"/>
              </a:rPr>
              <a:t>4. Feature Preparation</a:t>
            </a:r>
          </a:p>
          <a:p>
            <a:pPr algn="l">
              <a:lnSpc>
                <a:spcPts val="3707"/>
              </a:lnSpc>
            </a:pPr>
            <a:r>
              <a:rPr lang="en-US" sz="2648">
                <a:solidFill>
                  <a:srgbClr val="000000"/>
                </a:solidFill>
                <a:latin typeface="Canva Sans"/>
                <a:ea typeface="Canva Sans"/>
                <a:cs typeface="Canva Sans"/>
                <a:sym typeface="Canva Sans"/>
              </a:rPr>
              <a:t>Important variables were selected for further analysis.</a:t>
            </a:r>
          </a:p>
          <a:p>
            <a:pPr algn="l">
              <a:lnSpc>
                <a:spcPts val="3707"/>
              </a:lnSpc>
            </a:pPr>
            <a:r>
              <a:rPr lang="en-US" sz="2648">
                <a:solidFill>
                  <a:srgbClr val="000000"/>
                </a:solidFill>
                <a:latin typeface="Canva Sans"/>
                <a:ea typeface="Canva Sans"/>
                <a:cs typeface="Canva Sans"/>
                <a:sym typeface="Canva Sans"/>
              </a:rPr>
              <a:t>The required features were prepared and scaled for clustering.</a:t>
            </a:r>
          </a:p>
          <a:p>
            <a:pPr algn="l">
              <a:lnSpc>
                <a:spcPts val="3707"/>
              </a:lnSpc>
            </a:pPr>
            <a:r>
              <a:rPr lang="en-US" b="true" sz="2648">
                <a:solidFill>
                  <a:srgbClr val="000000"/>
                </a:solidFill>
                <a:latin typeface="Canva Sans Bold"/>
                <a:ea typeface="Canva Sans Bold"/>
                <a:cs typeface="Canva Sans Bold"/>
                <a:sym typeface="Canva Sans Bold"/>
              </a:rPr>
              <a:t>5. Data Validation</a:t>
            </a:r>
          </a:p>
          <a:p>
            <a:pPr algn="l">
              <a:lnSpc>
                <a:spcPts val="3707"/>
              </a:lnSpc>
            </a:pPr>
            <a:r>
              <a:rPr lang="en-US" sz="2648">
                <a:solidFill>
                  <a:srgbClr val="000000"/>
                </a:solidFill>
                <a:latin typeface="Canva Sans"/>
                <a:ea typeface="Canva Sans"/>
                <a:cs typeface="Canva Sans"/>
                <a:sym typeface="Canva Sans"/>
              </a:rPr>
              <a:t>Data types and consistency were checked after cleaning.</a:t>
            </a:r>
          </a:p>
          <a:p>
            <a:pPr algn="l">
              <a:lnSpc>
                <a:spcPts val="3707"/>
              </a:lnSpc>
            </a:pPr>
            <a:r>
              <a:rPr lang="en-US" sz="2648">
                <a:solidFill>
                  <a:srgbClr val="000000"/>
                </a:solidFill>
                <a:latin typeface="Canva Sans"/>
                <a:ea typeface="Canva Sans"/>
                <a:cs typeface="Canva Sans"/>
                <a:sym typeface="Canva Sans"/>
              </a:rPr>
              <a:t>The final dataset was prepared for analysis and machine learning.</a:t>
            </a:r>
          </a:p>
          <a:p>
            <a:pPr algn="l">
              <a:lnSpc>
                <a:spcPts val="3707"/>
              </a:lnSpc>
            </a:pPr>
          </a:p>
        </p:txBody>
      </p:sp>
      <p:grpSp>
        <p:nvGrpSpPr>
          <p:cNvPr name="Group 5" id="5"/>
          <p:cNvGrpSpPr/>
          <p:nvPr/>
        </p:nvGrpSpPr>
        <p:grpSpPr>
          <a:xfrm rot="0">
            <a:off x="11919598" y="987591"/>
            <a:ext cx="7314379" cy="8229600"/>
            <a:chOff x="0" y="0"/>
            <a:chExt cx="1133189" cy="1274980"/>
          </a:xfrm>
        </p:grpSpPr>
        <p:sp>
          <p:nvSpPr>
            <p:cNvPr name="Freeform 6" id="6"/>
            <p:cNvSpPr/>
            <p:nvPr/>
          </p:nvSpPr>
          <p:spPr>
            <a:xfrm flipH="false" flipV="false" rot="0">
              <a:off x="0" y="0"/>
              <a:ext cx="1133189" cy="1274980"/>
            </a:xfrm>
            <a:custGeom>
              <a:avLst/>
              <a:gdLst/>
              <a:ahLst/>
              <a:cxnLst/>
              <a:rect r="r" b="b" t="t" l="l"/>
              <a:pathLst>
                <a:path h="1274980" w="1133189">
                  <a:moveTo>
                    <a:pt x="24344" y="0"/>
                  </a:moveTo>
                  <a:lnTo>
                    <a:pt x="1108844" y="0"/>
                  </a:lnTo>
                  <a:cubicBezTo>
                    <a:pt x="1122289" y="0"/>
                    <a:pt x="1133189" y="10899"/>
                    <a:pt x="1133189" y="24344"/>
                  </a:cubicBezTo>
                  <a:lnTo>
                    <a:pt x="1133189" y="1250636"/>
                  </a:lnTo>
                  <a:cubicBezTo>
                    <a:pt x="1133189" y="1264081"/>
                    <a:pt x="1122289" y="1274980"/>
                    <a:pt x="1108844" y="1274980"/>
                  </a:cubicBezTo>
                  <a:lnTo>
                    <a:pt x="24344" y="1274980"/>
                  </a:lnTo>
                  <a:cubicBezTo>
                    <a:pt x="10899" y="1274980"/>
                    <a:pt x="0" y="1264081"/>
                    <a:pt x="0" y="1250636"/>
                  </a:cubicBezTo>
                  <a:lnTo>
                    <a:pt x="0" y="24344"/>
                  </a:lnTo>
                  <a:cubicBezTo>
                    <a:pt x="0" y="10899"/>
                    <a:pt x="10899" y="0"/>
                    <a:pt x="24344" y="0"/>
                  </a:cubicBezTo>
                  <a:close/>
                </a:path>
              </a:pathLst>
            </a:custGeom>
            <a:blipFill>
              <a:blip r:embed="rId2">
                <a:alphaModFix amt="65999"/>
              </a:blip>
              <a:stretch>
                <a:fillRect l="-50132" t="0" r="-50132"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961" y="277140"/>
            <a:ext cx="18958009" cy="10009860"/>
          </a:xfrm>
          <a:custGeom>
            <a:avLst/>
            <a:gdLst/>
            <a:ahLst/>
            <a:cxnLst/>
            <a:rect r="r" b="b" t="t" l="l"/>
            <a:pathLst>
              <a:path h="10009860" w="18958009">
                <a:moveTo>
                  <a:pt x="0" y="0"/>
                </a:moveTo>
                <a:lnTo>
                  <a:pt x="18958009" y="0"/>
                </a:lnTo>
                <a:lnTo>
                  <a:pt x="18958009" y="10009860"/>
                </a:lnTo>
                <a:lnTo>
                  <a:pt x="0" y="10009860"/>
                </a:lnTo>
                <a:lnTo>
                  <a:pt x="0" y="0"/>
                </a:lnTo>
                <a:close/>
              </a:path>
            </a:pathLst>
          </a:custGeom>
          <a:blipFill>
            <a:blip r:embed="rId2"/>
            <a:stretch>
              <a:fillRect l="0" t="0" r="0" b="-5787"/>
            </a:stretch>
          </a:blipFill>
        </p:spPr>
      </p:sp>
      <p:sp>
        <p:nvSpPr>
          <p:cNvPr name="Freeform 3" id="3"/>
          <p:cNvSpPr/>
          <p:nvPr/>
        </p:nvSpPr>
        <p:spPr>
          <a:xfrm flipH="false" flipV="false" rot="0">
            <a:off x="288436" y="1785489"/>
            <a:ext cx="9463074" cy="6312185"/>
          </a:xfrm>
          <a:custGeom>
            <a:avLst/>
            <a:gdLst/>
            <a:ahLst/>
            <a:cxnLst/>
            <a:rect r="r" b="b" t="t" l="l"/>
            <a:pathLst>
              <a:path h="6312185" w="9463074">
                <a:moveTo>
                  <a:pt x="0" y="0"/>
                </a:moveTo>
                <a:lnTo>
                  <a:pt x="9463074" y="0"/>
                </a:lnTo>
                <a:lnTo>
                  <a:pt x="9463074" y="6312185"/>
                </a:lnTo>
                <a:lnTo>
                  <a:pt x="0" y="6312185"/>
                </a:lnTo>
                <a:lnTo>
                  <a:pt x="0" y="0"/>
                </a:lnTo>
                <a:close/>
              </a:path>
            </a:pathLst>
          </a:custGeom>
          <a:blipFill>
            <a:blip r:embed="rId3"/>
            <a:stretch>
              <a:fillRect l="0" t="0" r="-1439"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8981" y="0"/>
            <a:ext cx="19679972" cy="10287000"/>
          </a:xfrm>
          <a:custGeom>
            <a:avLst/>
            <a:gdLst/>
            <a:ahLst/>
            <a:cxnLst/>
            <a:rect r="r" b="b" t="t" l="l"/>
            <a:pathLst>
              <a:path h="10287000" w="19679972">
                <a:moveTo>
                  <a:pt x="0" y="0"/>
                </a:moveTo>
                <a:lnTo>
                  <a:pt x="19679972" y="0"/>
                </a:lnTo>
                <a:lnTo>
                  <a:pt x="19679972" y="10287000"/>
                </a:lnTo>
                <a:lnTo>
                  <a:pt x="0" y="10287000"/>
                </a:lnTo>
                <a:lnTo>
                  <a:pt x="0" y="0"/>
                </a:lnTo>
                <a:close/>
              </a:path>
            </a:pathLst>
          </a:custGeom>
          <a:blipFill>
            <a:blip r:embed="rId2"/>
            <a:stretch>
              <a:fillRect l="0" t="0" r="0" b="-710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880372" y="3313404"/>
            <a:ext cx="7378928" cy="4843214"/>
          </a:xfrm>
          <a:custGeom>
            <a:avLst/>
            <a:gdLst/>
            <a:ahLst/>
            <a:cxnLst/>
            <a:rect r="r" b="b" t="t" l="l"/>
            <a:pathLst>
              <a:path h="4843214" w="7378928">
                <a:moveTo>
                  <a:pt x="0" y="0"/>
                </a:moveTo>
                <a:lnTo>
                  <a:pt x="7378928" y="0"/>
                </a:lnTo>
                <a:lnTo>
                  <a:pt x="7378928" y="4843214"/>
                </a:lnTo>
                <a:lnTo>
                  <a:pt x="0" y="4843214"/>
                </a:lnTo>
                <a:lnTo>
                  <a:pt x="0" y="0"/>
                </a:lnTo>
                <a:close/>
              </a:path>
            </a:pathLst>
          </a:custGeom>
          <a:blipFill>
            <a:blip r:embed="rId2"/>
            <a:stretch>
              <a:fillRect l="0" t="0" r="0" b="0"/>
            </a:stretch>
          </a:blipFill>
        </p:spPr>
      </p:sp>
      <p:sp>
        <p:nvSpPr>
          <p:cNvPr name="TextBox 3" id="3"/>
          <p:cNvSpPr txBox="true"/>
          <p:nvPr/>
        </p:nvSpPr>
        <p:spPr>
          <a:xfrm rot="0">
            <a:off x="434392" y="91985"/>
            <a:ext cx="15284742" cy="1357690"/>
          </a:xfrm>
          <a:prstGeom prst="rect">
            <a:avLst/>
          </a:prstGeom>
        </p:spPr>
        <p:txBody>
          <a:bodyPr anchor="t" rtlCol="false" tIns="0" lIns="0" bIns="0" rIns="0">
            <a:spAutoFit/>
          </a:bodyPr>
          <a:lstStyle/>
          <a:p>
            <a:pPr algn="ctr">
              <a:lnSpc>
                <a:spcPts val="11127"/>
              </a:lnSpc>
            </a:pPr>
            <a:r>
              <a:rPr lang="en-US" sz="7948" b="true">
                <a:solidFill>
                  <a:srgbClr val="000000"/>
                </a:solidFill>
                <a:latin typeface="Cinzel Bold"/>
                <a:ea typeface="Cinzel Bold"/>
                <a:cs typeface="Cinzel Bold"/>
                <a:sym typeface="Cinzel Bold"/>
              </a:rPr>
              <a:t>User</a:t>
            </a:r>
            <a:r>
              <a:rPr lang="en-US" b="true" sz="7948">
                <a:solidFill>
                  <a:srgbClr val="000000"/>
                </a:solidFill>
                <a:latin typeface="Cinzel Bold"/>
                <a:ea typeface="Cinzel Bold"/>
                <a:cs typeface="Cinzel Bold"/>
                <a:sym typeface="Cinzel Bold"/>
              </a:rPr>
              <a:t> Engagement + K-Means</a:t>
            </a:r>
          </a:p>
        </p:txBody>
      </p:sp>
      <p:sp>
        <p:nvSpPr>
          <p:cNvPr name="TextBox 4" id="4"/>
          <p:cNvSpPr txBox="true"/>
          <p:nvPr/>
        </p:nvSpPr>
        <p:spPr>
          <a:xfrm rot="0">
            <a:off x="301042" y="2322990"/>
            <a:ext cx="9381082" cy="7224093"/>
          </a:xfrm>
          <a:prstGeom prst="rect">
            <a:avLst/>
          </a:prstGeom>
        </p:spPr>
        <p:txBody>
          <a:bodyPr anchor="t" rtlCol="false" tIns="0" lIns="0" bIns="0" rIns="0">
            <a:spAutoFit/>
          </a:bodyPr>
          <a:lstStyle/>
          <a:p>
            <a:pPr algn="just">
              <a:lnSpc>
                <a:spcPts val="2921"/>
              </a:lnSpc>
            </a:pPr>
            <a:r>
              <a:rPr lang="en-US" sz="2086" b="true">
                <a:solidFill>
                  <a:srgbClr val="000000"/>
                </a:solidFill>
                <a:latin typeface="Canva Sans Bold"/>
                <a:ea typeface="Canva Sans Bold"/>
                <a:cs typeface="Canva Sans Bold"/>
                <a:sym typeface="Canva Sans Bold"/>
              </a:rPr>
              <a:t>1. User Engagement </a:t>
            </a:r>
            <a:r>
              <a:rPr lang="en-US" b="true" sz="2086">
                <a:solidFill>
                  <a:srgbClr val="000000"/>
                </a:solidFill>
                <a:latin typeface="Canva Sans Bold"/>
                <a:ea typeface="Canva Sans Bold"/>
                <a:cs typeface="Canva Sans Bold"/>
                <a:sym typeface="Canva Sans Bold"/>
              </a:rPr>
              <a:t>Analysis</a:t>
            </a:r>
          </a:p>
          <a:p>
            <a:pPr algn="just">
              <a:lnSpc>
                <a:spcPts val="2921"/>
              </a:lnSpc>
            </a:pPr>
            <a:r>
              <a:rPr lang="en-US" sz="2086">
                <a:solidFill>
                  <a:srgbClr val="000000"/>
                </a:solidFill>
                <a:latin typeface="Canva Sans"/>
                <a:ea typeface="Canva Sans"/>
                <a:cs typeface="Canva Sans"/>
                <a:sym typeface="Canva Sans"/>
              </a:rPr>
              <a:t> Customer engagement was measured using sessions, session duration and total data traffic.</a:t>
            </a:r>
          </a:p>
          <a:p>
            <a:pPr algn="just">
              <a:lnSpc>
                <a:spcPts val="2921"/>
              </a:lnSpc>
            </a:pPr>
            <a:r>
              <a:rPr lang="en-US" sz="2086">
                <a:solidFill>
                  <a:srgbClr val="000000"/>
                </a:solidFill>
                <a:latin typeface="Canva Sans"/>
                <a:ea typeface="Canva Sans"/>
                <a:cs typeface="Canva Sans"/>
                <a:sym typeface="Canva Sans"/>
              </a:rPr>
              <a:t> These metrics helped us understand the level of network usage.</a:t>
            </a:r>
          </a:p>
          <a:p>
            <a:pPr algn="just">
              <a:lnSpc>
                <a:spcPts val="2921"/>
              </a:lnSpc>
            </a:pPr>
            <a:r>
              <a:rPr lang="en-US" b="true" sz="2086">
                <a:solidFill>
                  <a:srgbClr val="000000"/>
                </a:solidFill>
                <a:latin typeface="Canva Sans Bold"/>
                <a:ea typeface="Canva Sans Bold"/>
                <a:cs typeface="Canva Sans Bold"/>
                <a:sym typeface="Canva Sans Bold"/>
              </a:rPr>
              <a:t>2. K-Means Clustering</a:t>
            </a:r>
          </a:p>
          <a:p>
            <a:pPr algn="just">
              <a:lnSpc>
                <a:spcPts val="2921"/>
              </a:lnSpc>
            </a:pPr>
            <a:r>
              <a:rPr lang="en-US" sz="2086">
                <a:solidFill>
                  <a:srgbClr val="000000"/>
                </a:solidFill>
                <a:latin typeface="Canva Sans"/>
                <a:ea typeface="Canva Sans"/>
                <a:cs typeface="Canva Sans"/>
                <a:sym typeface="Canva Sans"/>
              </a:rPr>
              <a:t> K-Means was used to group customers with similar usage behaviour.</a:t>
            </a:r>
          </a:p>
          <a:p>
            <a:pPr algn="just">
              <a:lnSpc>
                <a:spcPts val="2921"/>
              </a:lnSpc>
            </a:pPr>
            <a:r>
              <a:rPr lang="en-US" sz="2086">
                <a:solidFill>
                  <a:srgbClr val="000000"/>
                </a:solidFill>
                <a:latin typeface="Canva Sans"/>
                <a:ea typeface="Canva Sans"/>
                <a:cs typeface="Canva Sans"/>
                <a:sym typeface="Canva Sans"/>
              </a:rPr>
              <a:t> Customers with similar engagement patterns were placed in the same cluster.</a:t>
            </a:r>
          </a:p>
          <a:p>
            <a:pPr algn="just">
              <a:lnSpc>
                <a:spcPts val="2921"/>
              </a:lnSpc>
            </a:pPr>
            <a:r>
              <a:rPr lang="en-US" b="true" sz="2086">
                <a:solidFill>
                  <a:srgbClr val="000000"/>
                </a:solidFill>
                <a:latin typeface="Canva Sans Bold"/>
                <a:ea typeface="Canva Sans Bold"/>
                <a:cs typeface="Canva Sans Bold"/>
                <a:sym typeface="Canva Sans Bold"/>
              </a:rPr>
              <a:t>3. Optimal Clusters</a:t>
            </a:r>
          </a:p>
          <a:p>
            <a:pPr algn="just">
              <a:lnSpc>
                <a:spcPts val="2921"/>
              </a:lnSpc>
            </a:pPr>
            <a:r>
              <a:rPr lang="en-US" sz="2086">
                <a:solidFill>
                  <a:srgbClr val="000000"/>
                </a:solidFill>
                <a:latin typeface="Canva Sans"/>
                <a:ea typeface="Canva Sans"/>
                <a:cs typeface="Canva Sans"/>
                <a:sym typeface="Canva Sans"/>
              </a:rPr>
              <a:t> The Elbow Method was used to find the suitable number of clusters.</a:t>
            </a:r>
          </a:p>
          <a:p>
            <a:pPr algn="just">
              <a:lnSpc>
                <a:spcPts val="2921"/>
              </a:lnSpc>
            </a:pPr>
            <a:r>
              <a:rPr lang="en-US" sz="2086">
                <a:solidFill>
                  <a:srgbClr val="000000"/>
                </a:solidFill>
                <a:latin typeface="Canva Sans"/>
                <a:ea typeface="Canva Sans"/>
                <a:cs typeface="Canva Sans"/>
                <a:sym typeface="Canva Sans"/>
              </a:rPr>
              <a:t> The analysis selected K = 4.</a:t>
            </a:r>
          </a:p>
          <a:p>
            <a:pPr algn="just">
              <a:lnSpc>
                <a:spcPts val="2921"/>
              </a:lnSpc>
            </a:pPr>
            <a:r>
              <a:rPr lang="en-US" b="true" sz="2086">
                <a:solidFill>
                  <a:srgbClr val="000000"/>
                </a:solidFill>
                <a:latin typeface="Canva Sans Bold"/>
                <a:ea typeface="Canva Sans Bold"/>
                <a:cs typeface="Canva Sans Bold"/>
                <a:sym typeface="Canva Sans Bold"/>
              </a:rPr>
              <a:t>4. Four Engagement Groups</a:t>
            </a:r>
          </a:p>
          <a:p>
            <a:pPr algn="just">
              <a:lnSpc>
                <a:spcPts val="2921"/>
              </a:lnSpc>
            </a:pPr>
            <a:r>
              <a:rPr lang="en-US" sz="2086">
                <a:solidFill>
                  <a:srgbClr val="000000"/>
                </a:solidFill>
                <a:latin typeface="Canva Sans"/>
                <a:ea typeface="Canva Sans"/>
                <a:cs typeface="Canva Sans"/>
                <a:sym typeface="Canva Sans"/>
              </a:rPr>
              <a:t> Customers were divided into Low, Medium, High and Very High Engagement groups.</a:t>
            </a:r>
          </a:p>
          <a:p>
            <a:pPr algn="just">
              <a:lnSpc>
                <a:spcPts val="2921"/>
              </a:lnSpc>
            </a:pPr>
            <a:r>
              <a:rPr lang="en-US" sz="2086">
                <a:solidFill>
                  <a:srgbClr val="000000"/>
                </a:solidFill>
                <a:latin typeface="Canva Sans"/>
                <a:ea typeface="Canva Sans"/>
                <a:cs typeface="Canva Sans"/>
                <a:sym typeface="Canva Sans"/>
              </a:rPr>
              <a:t> The Very High group showed the highest usage activity.</a:t>
            </a:r>
          </a:p>
          <a:p>
            <a:pPr algn="just">
              <a:lnSpc>
                <a:spcPts val="2921"/>
              </a:lnSpc>
            </a:pPr>
            <a:r>
              <a:rPr lang="en-US" b="true" sz="2086">
                <a:solidFill>
                  <a:srgbClr val="000000"/>
                </a:solidFill>
                <a:latin typeface="Canva Sans Bold"/>
                <a:ea typeface="Canva Sans Bold"/>
                <a:cs typeface="Canva Sans Bold"/>
                <a:sym typeface="Canva Sans Bold"/>
              </a:rPr>
              <a:t>5. Key Insight</a:t>
            </a:r>
          </a:p>
          <a:p>
            <a:pPr algn="just">
              <a:lnSpc>
                <a:spcPts val="2921"/>
              </a:lnSpc>
            </a:pPr>
            <a:r>
              <a:rPr lang="en-US" sz="2086">
                <a:solidFill>
                  <a:srgbClr val="000000"/>
                </a:solidFill>
                <a:latin typeface="Canva Sans"/>
                <a:ea typeface="Canva Sans"/>
                <a:cs typeface="Canva Sans"/>
                <a:sym typeface="Canva Sans"/>
              </a:rPr>
              <a:t> Engagement increases with sessions, duration and data consumption.</a:t>
            </a:r>
          </a:p>
          <a:p>
            <a:pPr algn="just">
              <a:lnSpc>
                <a:spcPts val="2921"/>
              </a:lnSpc>
            </a:pPr>
            <a:r>
              <a:rPr lang="en-US" sz="2086">
                <a:solidFill>
                  <a:srgbClr val="000000"/>
                </a:solidFill>
                <a:latin typeface="Canva Sans"/>
                <a:ea typeface="Canva Sans"/>
                <a:cs typeface="Canva Sans"/>
                <a:sym typeface="Canva Sans"/>
              </a:rPr>
              <a:t> These groups can help in creating targeted offers and customer strategies.</a:t>
            </a:r>
          </a:p>
          <a:p>
            <a:pPr algn="just">
              <a:lnSpc>
                <a:spcPts val="2921"/>
              </a:lnSpc>
            </a:pPr>
          </a:p>
        </p:txBody>
      </p:sp>
      <p:sp>
        <p:nvSpPr>
          <p:cNvPr name="AutoShape 5" id="5"/>
          <p:cNvSpPr/>
          <p:nvPr/>
        </p:nvSpPr>
        <p:spPr>
          <a:xfrm>
            <a:off x="644164" y="1594616"/>
            <a:ext cx="15052765" cy="0"/>
          </a:xfrm>
          <a:prstGeom prst="line">
            <a:avLst/>
          </a:prstGeom>
          <a:ln cap="rnd" w="95250">
            <a:solidFill>
              <a:srgbClr val="2563EB"/>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162A"/>
        </a:solidFill>
      </p:bgPr>
    </p:bg>
    <p:spTree>
      <p:nvGrpSpPr>
        <p:cNvPr id="1" name=""/>
        <p:cNvGrpSpPr/>
        <p:nvPr/>
      </p:nvGrpSpPr>
      <p:grpSpPr>
        <a:xfrm>
          <a:off x="0" y="0"/>
          <a:ext cx="0" cy="0"/>
          <a:chOff x="0" y="0"/>
          <a:chExt cx="0" cy="0"/>
        </a:xfrm>
      </p:grpSpPr>
      <p:sp>
        <p:nvSpPr>
          <p:cNvPr name="Freeform 2" id="2"/>
          <p:cNvSpPr/>
          <p:nvPr/>
        </p:nvSpPr>
        <p:spPr>
          <a:xfrm flipH="false" flipV="false" rot="0">
            <a:off x="0" y="1279237"/>
            <a:ext cx="18468015" cy="9007763"/>
          </a:xfrm>
          <a:custGeom>
            <a:avLst/>
            <a:gdLst/>
            <a:ahLst/>
            <a:cxnLst/>
            <a:rect r="r" b="b" t="t" l="l"/>
            <a:pathLst>
              <a:path h="9007763" w="18468015">
                <a:moveTo>
                  <a:pt x="0" y="0"/>
                </a:moveTo>
                <a:lnTo>
                  <a:pt x="18468015" y="0"/>
                </a:lnTo>
                <a:lnTo>
                  <a:pt x="18468015" y="9007763"/>
                </a:lnTo>
                <a:lnTo>
                  <a:pt x="0" y="9007763"/>
                </a:lnTo>
                <a:lnTo>
                  <a:pt x="0" y="0"/>
                </a:lnTo>
                <a:close/>
              </a:path>
            </a:pathLst>
          </a:custGeom>
          <a:blipFill>
            <a:blip r:embed="rId2"/>
            <a:stretch>
              <a:fillRect l="0" t="-8212" r="0" b="0"/>
            </a:stretch>
          </a:blipFill>
        </p:spPr>
      </p:sp>
      <p:sp>
        <p:nvSpPr>
          <p:cNvPr name="TextBox 3" id="3"/>
          <p:cNvSpPr txBox="true"/>
          <p:nvPr/>
        </p:nvSpPr>
        <p:spPr>
          <a:xfrm rot="0">
            <a:off x="3740872" y="125820"/>
            <a:ext cx="9715100" cy="1036230"/>
          </a:xfrm>
          <a:prstGeom prst="rect">
            <a:avLst/>
          </a:prstGeom>
        </p:spPr>
        <p:txBody>
          <a:bodyPr anchor="t" rtlCol="false" tIns="0" lIns="0" bIns="0" rIns="0">
            <a:spAutoFit/>
          </a:bodyPr>
          <a:lstStyle/>
          <a:p>
            <a:pPr algn="ctr">
              <a:lnSpc>
                <a:spcPts val="8511"/>
              </a:lnSpc>
            </a:pPr>
            <a:r>
              <a:rPr lang="en-US" b="true" sz="6079">
                <a:solidFill>
                  <a:srgbClr val="FFFFFF"/>
                </a:solidFill>
                <a:latin typeface="Cinzel Bold"/>
                <a:ea typeface="Cinzel Bold"/>
                <a:cs typeface="Cinzel Bold"/>
                <a:sym typeface="Cinzel Bold"/>
              </a:rPr>
              <a:t>Network Experience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03211" y="2716789"/>
            <a:ext cx="10515535" cy="6855836"/>
          </a:xfrm>
          <a:custGeom>
            <a:avLst/>
            <a:gdLst/>
            <a:ahLst/>
            <a:cxnLst/>
            <a:rect r="r" b="b" t="t" l="l"/>
            <a:pathLst>
              <a:path h="6855836" w="10515535">
                <a:moveTo>
                  <a:pt x="0" y="0"/>
                </a:moveTo>
                <a:lnTo>
                  <a:pt x="10515535" y="0"/>
                </a:lnTo>
                <a:lnTo>
                  <a:pt x="10515535" y="6855836"/>
                </a:lnTo>
                <a:lnTo>
                  <a:pt x="0" y="6855836"/>
                </a:lnTo>
                <a:lnTo>
                  <a:pt x="0" y="0"/>
                </a:lnTo>
                <a:close/>
              </a:path>
            </a:pathLst>
          </a:custGeom>
          <a:blipFill>
            <a:blip r:embed="rId2"/>
            <a:stretch>
              <a:fillRect l="0" t="0" r="0" b="0"/>
            </a:stretch>
          </a:blipFill>
        </p:spPr>
      </p:sp>
      <p:sp>
        <p:nvSpPr>
          <p:cNvPr name="TextBox 3" id="3"/>
          <p:cNvSpPr txBox="true"/>
          <p:nvPr/>
        </p:nvSpPr>
        <p:spPr>
          <a:xfrm rot="0">
            <a:off x="3210996" y="322288"/>
            <a:ext cx="11866008" cy="1269949"/>
          </a:xfrm>
          <a:prstGeom prst="rect">
            <a:avLst/>
          </a:prstGeom>
        </p:spPr>
        <p:txBody>
          <a:bodyPr anchor="t" rtlCol="false" tIns="0" lIns="0" bIns="0" rIns="0">
            <a:spAutoFit/>
          </a:bodyPr>
          <a:lstStyle/>
          <a:p>
            <a:pPr algn="ctr">
              <a:lnSpc>
                <a:spcPts val="10405"/>
              </a:lnSpc>
            </a:pPr>
            <a:r>
              <a:rPr lang="en-US" sz="7432" b="true">
                <a:solidFill>
                  <a:srgbClr val="000000"/>
                </a:solidFill>
                <a:latin typeface="Cinzel Bold"/>
                <a:ea typeface="Cinzel Bold"/>
                <a:cs typeface="Cinzel Bold"/>
                <a:sym typeface="Cinzel Bold"/>
              </a:rPr>
              <a:t>Customer</a:t>
            </a:r>
            <a:r>
              <a:rPr lang="en-US" b="true" sz="7432">
                <a:solidFill>
                  <a:srgbClr val="000000"/>
                </a:solidFill>
                <a:latin typeface="Cinzel Bold"/>
                <a:ea typeface="Cinzel Bold"/>
                <a:cs typeface="Cinzel Bold"/>
                <a:sym typeface="Cinzel Bold"/>
              </a:rPr>
              <a:t> Satisfaction</a:t>
            </a:r>
          </a:p>
        </p:txBody>
      </p:sp>
      <p:sp>
        <p:nvSpPr>
          <p:cNvPr name="TextBox 4" id="4"/>
          <p:cNvSpPr txBox="true"/>
          <p:nvPr/>
        </p:nvSpPr>
        <p:spPr>
          <a:xfrm rot="0">
            <a:off x="600067" y="2233221"/>
            <a:ext cx="6928414" cy="8642835"/>
          </a:xfrm>
          <a:prstGeom prst="rect">
            <a:avLst/>
          </a:prstGeom>
        </p:spPr>
        <p:txBody>
          <a:bodyPr anchor="t" rtlCol="false" tIns="0" lIns="0" bIns="0" rIns="0">
            <a:spAutoFit/>
          </a:bodyPr>
          <a:lstStyle/>
          <a:p>
            <a:pPr algn="l">
              <a:lnSpc>
                <a:spcPts val="3013"/>
              </a:lnSpc>
            </a:pPr>
            <a:r>
              <a:rPr lang="en-US" sz="2152">
                <a:solidFill>
                  <a:srgbClr val="000000"/>
                </a:solidFill>
                <a:latin typeface="Canva Sans"/>
                <a:ea typeface="Canva Sans"/>
                <a:cs typeface="Canva Sans"/>
                <a:sym typeface="Canva Sans"/>
              </a:rPr>
              <a:t>Customer satisfaction was analyse</a:t>
            </a:r>
            <a:r>
              <a:rPr lang="en-US" sz="2152">
                <a:solidFill>
                  <a:srgbClr val="000000"/>
                </a:solidFill>
                <a:latin typeface="Canva Sans"/>
                <a:ea typeface="Canva Sans"/>
                <a:cs typeface="Canva Sans"/>
                <a:sym typeface="Canva Sans"/>
              </a:rPr>
              <a:t>d to understand the overall experience of TellCo customers. The analysis combined User Engagement and Network Experience to get a broader view of how customers interact with the network and how they experience its performance.</a:t>
            </a:r>
          </a:p>
          <a:p>
            <a:pPr algn="l">
              <a:lnSpc>
                <a:spcPts val="3013"/>
              </a:lnSpc>
            </a:pPr>
            <a:r>
              <a:rPr lang="en-US" sz="2152">
                <a:solidFill>
                  <a:srgbClr val="000000"/>
                </a:solidFill>
                <a:latin typeface="Canva Sans"/>
                <a:ea typeface="Canva Sans"/>
                <a:cs typeface="Canva Sans"/>
                <a:sym typeface="Canva Sans"/>
              </a:rPr>
              <a:t>The Engagement Score was based on customer usage behaviour, including the number of sessions, session duration and total data traffic. The Experience Score considered network performance factors such as TCP Retransmission, RTT and Throughput, which helped in understanding differences in network experience among customers.</a:t>
            </a:r>
          </a:p>
          <a:p>
            <a:pPr algn="l">
              <a:lnSpc>
                <a:spcPts val="3013"/>
              </a:lnSpc>
            </a:pPr>
            <a:r>
              <a:rPr lang="en-US" sz="2152">
                <a:solidFill>
                  <a:srgbClr val="000000"/>
                </a:solidFill>
                <a:latin typeface="Canva Sans"/>
                <a:ea typeface="Canva Sans"/>
                <a:cs typeface="Canva Sans"/>
                <a:sym typeface="Canva Sans"/>
              </a:rPr>
              <a:t>The final Satisfaction Score was calculated as the average of the Engagement Score and Experience Score. This helped identify differences in satisfaction between customer groups and provided useful insights for improving customer experience and developing better retention strategies.</a:t>
            </a:r>
          </a:p>
          <a:p>
            <a:pPr algn="l">
              <a:lnSpc>
                <a:spcPts val="3013"/>
              </a:lnSpc>
            </a:pPr>
          </a:p>
          <a:p>
            <a:pPr algn="l">
              <a:lnSpc>
                <a:spcPts val="3013"/>
              </a:lnSpc>
            </a:pPr>
          </a:p>
          <a:p>
            <a:pPr algn="l">
              <a:lnSpc>
                <a:spcPts val="3013"/>
              </a:lnSpc>
            </a:pPr>
          </a:p>
        </p:txBody>
      </p:sp>
      <p:sp>
        <p:nvSpPr>
          <p:cNvPr name="AutoShape 5" id="5"/>
          <p:cNvSpPr/>
          <p:nvPr/>
        </p:nvSpPr>
        <p:spPr>
          <a:xfrm>
            <a:off x="3523473" y="1592237"/>
            <a:ext cx="11553531" cy="0"/>
          </a:xfrm>
          <a:prstGeom prst="line">
            <a:avLst/>
          </a:prstGeom>
          <a:ln cap="rnd" w="95250">
            <a:solidFill>
              <a:srgbClr val="2563EB"/>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09690" y="218704"/>
            <a:ext cx="12504559" cy="1229466"/>
          </a:xfrm>
          <a:prstGeom prst="rect">
            <a:avLst/>
          </a:prstGeom>
        </p:spPr>
        <p:txBody>
          <a:bodyPr anchor="t" rtlCol="false" tIns="0" lIns="0" bIns="0" rIns="0">
            <a:spAutoFit/>
          </a:bodyPr>
          <a:lstStyle/>
          <a:p>
            <a:pPr algn="ctr">
              <a:lnSpc>
                <a:spcPts val="10031"/>
              </a:lnSpc>
            </a:pPr>
            <a:r>
              <a:rPr lang="en-US" sz="7165" b="true">
                <a:solidFill>
                  <a:srgbClr val="000000"/>
                </a:solidFill>
                <a:latin typeface="Cinzel Bold"/>
                <a:ea typeface="Cinzel Bold"/>
                <a:cs typeface="Cinzel Bold"/>
                <a:sym typeface="Cinzel Bold"/>
              </a:rPr>
              <a:t>Ran</a:t>
            </a:r>
            <a:r>
              <a:rPr lang="en-US" b="true" sz="7165">
                <a:solidFill>
                  <a:srgbClr val="000000"/>
                </a:solidFill>
                <a:latin typeface="Cinzel Bold"/>
                <a:ea typeface="Cinzel Bold"/>
                <a:cs typeface="Cinzel Bold"/>
                <a:sym typeface="Cinzel Bold"/>
              </a:rPr>
              <a:t>dom Forest + MLflow</a:t>
            </a:r>
          </a:p>
        </p:txBody>
      </p:sp>
      <p:sp>
        <p:nvSpPr>
          <p:cNvPr name="TextBox 3" id="3"/>
          <p:cNvSpPr txBox="true"/>
          <p:nvPr/>
        </p:nvSpPr>
        <p:spPr>
          <a:xfrm rot="0">
            <a:off x="845425" y="2258037"/>
            <a:ext cx="16597150" cy="6057285"/>
          </a:xfrm>
          <a:prstGeom prst="rect">
            <a:avLst/>
          </a:prstGeom>
        </p:spPr>
        <p:txBody>
          <a:bodyPr anchor="t" rtlCol="false" tIns="0" lIns="0" bIns="0" rIns="0">
            <a:spAutoFit/>
          </a:bodyPr>
          <a:lstStyle/>
          <a:p>
            <a:pPr algn="l">
              <a:lnSpc>
                <a:spcPts val="3708"/>
              </a:lnSpc>
            </a:pPr>
            <a:r>
              <a:rPr lang="en-US" sz="2649">
                <a:solidFill>
                  <a:srgbClr val="000000"/>
                </a:solidFill>
                <a:latin typeface="Canva Sans"/>
                <a:ea typeface="Canva Sans"/>
                <a:cs typeface="Canva Sans"/>
                <a:sym typeface="Canva Sans"/>
              </a:rPr>
              <a:t>The main goal of this stage was to buil</a:t>
            </a:r>
            <a:r>
              <a:rPr lang="en-US" sz="2649">
                <a:solidFill>
                  <a:srgbClr val="000000"/>
                </a:solidFill>
                <a:latin typeface="Canva Sans"/>
                <a:ea typeface="Canva Sans"/>
                <a:cs typeface="Canva Sans"/>
                <a:sym typeface="Canva Sans"/>
              </a:rPr>
              <a:t>d a model that could predict customer satisfaction from the patterns found in the data. For this, we used the Random Forest Regressor, which combines multiple decision trees and uses different customer engagement and network-related features to make the final prediction.</a:t>
            </a:r>
          </a:p>
          <a:p>
            <a:pPr algn="l">
              <a:lnSpc>
                <a:spcPts val="3708"/>
              </a:lnSpc>
            </a:pPr>
            <a:r>
              <a:rPr lang="en-US" sz="2649">
                <a:solidFill>
                  <a:srgbClr val="000000"/>
                </a:solidFill>
                <a:latin typeface="Canva Sans"/>
                <a:ea typeface="Canva Sans"/>
                <a:cs typeface="Canva Sans"/>
                <a:sym typeface="Canva Sans"/>
              </a:rPr>
              <a:t>The model gave very strong results on the test data, with an R² score of 0.9972, while the MAE was 0.0125 and RMSE was 0.0289. These metrics show how closely the predicted satisfaction values matched the actual values in the test dataset.</a:t>
            </a:r>
          </a:p>
          <a:p>
            <a:pPr algn="l">
              <a:lnSpc>
                <a:spcPts val="3708"/>
              </a:lnSpc>
            </a:pPr>
            <a:r>
              <a:rPr lang="en-US" sz="2649">
                <a:solidFill>
                  <a:srgbClr val="000000"/>
                </a:solidFill>
                <a:latin typeface="Canva Sans"/>
                <a:ea typeface="Canva Sans"/>
                <a:cs typeface="Canva Sans"/>
                <a:sym typeface="Canva Sans"/>
              </a:rPr>
              <a:t>Along with modelling, MLflow was used to keep the entire experiment organised. It stored important details such as the model parameters, evaluation results, run information and prediction outputs, making it easier to track what was done and reproduce the experiment later.</a:t>
            </a:r>
          </a:p>
          <a:p>
            <a:pPr algn="l">
              <a:lnSpc>
                <a:spcPts val="3708"/>
              </a:lnSpc>
            </a:pPr>
          </a:p>
          <a:p>
            <a:pPr algn="l">
              <a:lnSpc>
                <a:spcPts val="3708"/>
              </a:lnSpc>
            </a:pPr>
          </a:p>
          <a:p>
            <a:pPr algn="l">
              <a:lnSpc>
                <a:spcPts val="3708"/>
              </a:lnSpc>
            </a:pPr>
          </a:p>
        </p:txBody>
      </p:sp>
      <p:sp>
        <p:nvSpPr>
          <p:cNvPr name="AutoShape 4" id="4"/>
          <p:cNvSpPr/>
          <p:nvPr/>
        </p:nvSpPr>
        <p:spPr>
          <a:xfrm>
            <a:off x="3523473" y="1592237"/>
            <a:ext cx="11553531" cy="0"/>
          </a:xfrm>
          <a:prstGeom prst="line">
            <a:avLst/>
          </a:prstGeom>
          <a:ln cap="rnd" w="95250">
            <a:solidFill>
              <a:srgbClr val="2563EB"/>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538857" cy="10287000"/>
          </a:xfrm>
          <a:custGeom>
            <a:avLst/>
            <a:gdLst/>
            <a:ahLst/>
            <a:cxnLst/>
            <a:rect r="r" b="b" t="t" l="l"/>
            <a:pathLst>
              <a:path h="10287000" w="18538857">
                <a:moveTo>
                  <a:pt x="0" y="0"/>
                </a:moveTo>
                <a:lnTo>
                  <a:pt x="18538857" y="0"/>
                </a:lnTo>
                <a:lnTo>
                  <a:pt x="18538857" y="10287000"/>
                </a:lnTo>
                <a:lnTo>
                  <a:pt x="0" y="10287000"/>
                </a:lnTo>
                <a:lnTo>
                  <a:pt x="0" y="0"/>
                </a:lnTo>
                <a:close/>
              </a:path>
            </a:pathLst>
          </a:custGeom>
          <a:blipFill>
            <a:blip r:embed="rId2"/>
            <a:stretch>
              <a:fillRect l="0" t="0" r="-5573" b="-3692"/>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46170" y="2541090"/>
            <a:ext cx="5795659" cy="4781419"/>
          </a:xfrm>
          <a:custGeom>
            <a:avLst/>
            <a:gdLst/>
            <a:ahLst/>
            <a:cxnLst/>
            <a:rect r="r" b="b" t="t" l="l"/>
            <a:pathLst>
              <a:path h="4781419" w="5795659">
                <a:moveTo>
                  <a:pt x="0" y="0"/>
                </a:moveTo>
                <a:lnTo>
                  <a:pt x="5795660" y="0"/>
                </a:lnTo>
                <a:lnTo>
                  <a:pt x="5795660" y="4781419"/>
                </a:lnTo>
                <a:lnTo>
                  <a:pt x="0" y="47814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758351" y="4972050"/>
            <a:ext cx="2901032"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DAHW88nJIr0</dc:identifier>
  <dcterms:modified xsi:type="dcterms:W3CDTF">2011-08-01T06:04:30Z</dcterms:modified>
  <cp:revision>1</cp:revision>
  <dc:title>Blue and Green Modern Data analysis Presentation</dc:title>
</cp:coreProperties>
</file>